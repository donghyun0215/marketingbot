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인사 후 바로 문제로 넘어갑니다.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세 숫자만 읽고 병목 재정의 문장으로 넘어갑니다. 이 문장이 발표 전체의 축입니다.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35초. 파란 칸 두 개가 사람이 판단하는 지점이라고 짚고, 되먹임 네 개는 이름만 읽습니다.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버튼이 빨라서가 아니라 읽을 양이 줄어서 빨라졌다는 점을 강조합니다.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영상 재생 2분. 재생 전 '지금 보시는 숫자는 전부 제공받은 실데이터입니다' 한마디만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35초. 왼쪽은 '어느 회사 블로그에 놔도 어색하지 않은 글' — 담당자가 지적한 문제 상태입니다. 오른쪽은 코드프레소만 쓸 수 있는 글이라고 말합니다. 절대 반대로 말하지 않도록 주의합니다.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15초. 하지 않은 것을 먼저 말하고 링크드인 사유 한 줄로 닫습니다.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Q&amp;A로 넘어갑니다.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20초. 상단 기준값은 읽지 않고 관문 한 문장만 말합니다. 폐기 사례는 Q&amp;A용입니다.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마지막 문단을 스스로 말하는 것이 중요합니다. 질문으로 나오기 전에 먼저 꺼냅니다.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77240" y="21488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F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ZERO100 한인 AI BUILDERTHON · 문제 02 오토메이션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542032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Pulse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콘텐츠 여덟 단계를 시스템이 돌리고, 사람은 두 번만 판단합니다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77240" y="4224528"/>
            <a:ext cx="1005840" cy="32004"/>
          </a:xfrm>
          <a:prstGeom prst="rect">
            <a:avLst/>
          </a:prstGeom>
          <a:solidFill>
            <a:srgbClr val="1A61E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44348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코드프레소 마케팅 콘텐츠 운영 · 실데이터 6개월 기반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 정의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65836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리드가 목표인데, 리드의 출처를 모릅니다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874520"/>
            <a:ext cx="329184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9848" y="214884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C4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pPr indent="0" marL="0">
              <a:buNone/>
            </a:pPr>
            <a:r>
              <a:rPr lang="en-US" sz="16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10건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1069848" y="28529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유입 콘텐츠를 알 수 없는 진성 문의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434840" y="1874520"/>
            <a:ext cx="329184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27448" y="214884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1~4</a:t>
            </a:r>
            <a:pPr indent="0" marL="0">
              <a:buNone/>
            </a:pPr>
            <a:r>
              <a:rPr lang="en-US" sz="16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일</a:t>
            </a:r>
            <a:endParaRPr lang="en-US" sz="4600" dirty="0"/>
          </a:p>
        </p:txBody>
      </p:sp>
      <p:sp>
        <p:nvSpPr>
          <p:cNvPr id="9" name="Text 7"/>
          <p:cNvSpPr txBox="1"/>
          <p:nvPr/>
        </p:nvSpPr>
        <p:spPr>
          <a:xfrm>
            <a:off x="4727448" y="28529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경영진 컨펌 소요 · 발행 타이밍 상실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92440" y="1874520"/>
            <a:ext cx="329184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85048" y="214884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시간</a:t>
            </a:r>
            <a:endParaRPr lang="en-US" sz="4600" dirty="0"/>
          </a:p>
        </p:txBody>
      </p:sp>
      <p:sp>
        <p:nvSpPr>
          <p:cNvPr id="12" name="Text 10"/>
          <p:cNvSpPr txBox="1"/>
          <p:nvPr/>
        </p:nvSpPr>
        <p:spPr>
          <a:xfrm>
            <a:off x="8385048" y="28529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매주 성과 취합, 취합 후 폐기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794760"/>
            <a:ext cx="10607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04164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병목을 다시 정의했습니다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143000" y="4407408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384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컨펌이 나흘 걸리는 이유는 결재가 느려서가 아니라 매번 글 전체를 읽어야 하기 때문이고,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384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성과가 쌓이지 않는 이유는 데이터가 없어서가 아니라 되돌아오는 경로가 없기 때문입니다.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48640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 · 코드프레소 제공 6개월 실데이터(2026.02~08) 및 출제 브리프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65836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사람은 두 번만 판단합니다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243584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나머지 구간은 손이 가지 않습니다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965960"/>
            <a:ext cx="148132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41832" y="2212848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분석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941832" y="2523744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실데이터 이상치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377440" y="1965960"/>
            <a:ext cx="148132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42032" y="2212848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주제 추천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2542032" y="2523744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근거 포함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977640" y="1965960"/>
            <a:ext cx="1481328" cy="1207008"/>
          </a:xfrm>
          <a:prstGeom prst="roundRect">
            <a:avLst>
              <a:gd name="adj" fmla="val 6061"/>
            </a:avLst>
          </a:prstGeom>
          <a:solidFill>
            <a:srgbClr val="1A61EA"/>
          </a:solidFill>
          <a:ln w="12700">
            <a:solidFill>
              <a:srgbClr val="1A61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42232" y="2157984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42232" y="235915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채택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142232" y="2651760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E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사람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577840" y="1965960"/>
            <a:ext cx="148132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42432" y="2212848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생성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5742432" y="2523744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문체·규칙·근거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178040" y="1965960"/>
            <a:ext cx="148132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42632" y="2212848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7342632" y="2523744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위험 지점 표시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778240" y="1965960"/>
            <a:ext cx="1481328" cy="1207008"/>
          </a:xfrm>
          <a:prstGeom prst="roundRect">
            <a:avLst>
              <a:gd name="adj" fmla="val 6061"/>
            </a:avLst>
          </a:prstGeom>
          <a:solidFill>
            <a:srgbClr val="1A61EA"/>
          </a:solidFill>
          <a:ln w="12700">
            <a:solidFill>
              <a:srgbClr val="1A61E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942832" y="2157984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942832" y="235915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8942832" y="2651760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E2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사람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0378440" y="1965960"/>
            <a:ext cx="148132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543032" y="2212848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발행</a:t>
            </a:r>
            <a:endParaRPr lang="en-US" sz="1450" dirty="0"/>
          </a:p>
        </p:txBody>
      </p:sp>
      <p:sp>
        <p:nvSpPr>
          <p:cNvPr id="27" name="Text 25"/>
          <p:cNvSpPr txBox="1"/>
          <p:nvPr/>
        </p:nvSpPr>
        <p:spPr>
          <a:xfrm>
            <a:off x="10543032" y="2523744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추적 링크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77240" y="3520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네 개의 되먹임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777240" y="3931920"/>
            <a:ext cx="51206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33272" y="404164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반려 사유 → 다음 생성 규칙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033272" y="42976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요약하지 않고 원문 그대로 남깁니다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172200" y="3931920"/>
            <a:ext cx="51206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28232" y="404164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승인한 글 → 문체 코퍼스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428232" y="429768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쓸수록 목소리가 정확해집니다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777240" y="4773168"/>
            <a:ext cx="51206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033272" y="488289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추적 링크 → 문의 귀속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1033272" y="51389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어느 글이 문의를 만들었는지 남습니다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172200" y="4773168"/>
            <a:ext cx="51206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428232" y="488289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추천 → 성과 추적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6428232" y="51389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제안이 실제로 통했는지 확인합니다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 게이트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65836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컨펌을 없애지 않고, 읽을 양을 줄였습니다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965960"/>
            <a:ext cx="5029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2128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이전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52374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</a:t>
            </a:r>
            <a:pPr indent="0" marL="0">
              <a:buNone/>
            </a:pPr>
            <a:r>
              <a:rPr lang="en-US" sz="15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 전부</a:t>
            </a:r>
            <a:endParaRPr lang="en-US" sz="4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24612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384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사고가 나는 항목이 어디에 있는지 알 수 없으니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384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처음부터 끝까지 읽어야 했습니다.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965960"/>
            <a:ext cx="5029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1A61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37960" y="22128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52374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indent="0" marL="0">
              <a:buNone/>
            </a:pPr>
            <a:r>
              <a:rPr lang="en-US" sz="15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곳만 확인</a:t>
            </a:r>
            <a:endParaRPr lang="en-US" sz="42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324612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384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고객사명·가격·계약조건·출처 없는 수치를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384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표시해 그 지점만 보면 됩니다.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77240" y="4480560"/>
            <a:ext cx="10607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43000" y="46634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고객사명은 차단하지 않고 확인 대상으로만 올립니다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498348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사례 콘텐츠에는 고객사명이 정당하게 등장합니다. 써도 되는지는 사람이 판단할 문제입니다. — 실제 발행글 46편 검증에서 잘못된 차단 0건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143000" y="5349240"/>
            <a:ext cx="9875520" cy="10973"/>
          </a:xfrm>
          <a:prstGeom prst="rect">
            <a:avLst/>
          </a:prstGeom>
          <a:solidFill>
            <a:srgbClr val="E6E9E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43000" y="544068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결정은 누가 · 언제 · 왜와 함께 기록되며, 사람의 결정과 시스템의 실행이 구분되어 남습니다.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7724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데모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0175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주제 추천에서 문의 귀속까지, 한 바퀴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749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데이터, 실제 발송, 실제 귀속 — 2분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비교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65836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모델에 같은 주제를 넣었습니다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243584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gemini-3.6-flash · 주제: "인재 채용 전략"을 찾는 실무자를 위한 실행 가이드 · 바뀐 것은 문체·학습된 규칙·실데이터 근거뿐입니다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874520"/>
            <a:ext cx="512064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04825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일반 프롬프트</a:t>
            </a:r>
            <a:pPr indent="0" marL="0">
              <a:buNone/>
            </a:pPr>
            <a:r>
              <a:rPr lang="en-US" sz="115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주제만 전달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395728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 인재 채용 전략을 찾는 실무자를 위한 실행 가이드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인재 확보는 기업 성장의 핵심이지만, “좋은 사람을 어떻게 찾고, 어떻게 유지할까?” 라는 질문에 대한 답은 늘 복잡합니다. 이번 포스트에서는 **실무자가 바로 적용할 수 있는 구체적인 채용 전략**을 단계별로 정리했습니다.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## 1️⃣ 채용 목표와 KPI 정의하기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단계 | 핵심 질문 | 구체적인 산출물 |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1-1 | 우리 조직이 채용해야 할 인재는 누구인가? | 포지션 정의서 |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Tip: KPI는 SMART 원칙에 맞춰 설정하면 …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17920" y="1874520"/>
            <a:ext cx="512064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1A61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92240" y="204825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Engine</a:t>
            </a:r>
            <a:pPr indent="0" marL="0">
              <a:buNone/>
            </a:pPr>
            <a:r>
              <a:rPr lang="en-US" sz="115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문체 · 규칙 · 근거 주입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2395728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기업 A사는 검증되지 않은 이력서만 보고 개발자를 채용했다가 조기 퇴사 문제를 겪었습니다. 실무에 필요한 실제 기술 역량을 입사 전에 파악하기 어려웠기 때문입니다.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최근 포털에서 인재 채용 전략 관련 검색 노출 221회가 발생했으나 평균순위 20.6위로 실질적인 해결책을 찾지 못한 채용 담당자가 많습니다.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### 서류 검증을 넘어선 실제 역량 중심의 평가 설계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코드프레소의 SkillCertify는 지원자가 실제 개발 환경에서 코드를 작성하고 문제를 해결하는 과정을 다각도로 평가합니다. …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77240" y="5285232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78408" y="539496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도입부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978408" y="565099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일반론과 목차</a:t>
            </a:r>
            <a:pPr indent="0" marL="0">
              <a:buNone/>
            </a:pPr>
            <a:r>
              <a:rPr lang="en-US" sz="1100" dirty="0">
                <a:solidFill>
                  <a:srgbClr val="C3CA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100" b="1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고객사 사례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474720" y="5285232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675888" y="539496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수치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675888" y="565099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없음</a:t>
            </a:r>
            <a:pPr indent="0" marL="0">
              <a:buNone/>
            </a:pPr>
            <a:r>
              <a:rPr lang="en-US" sz="1100" dirty="0">
                <a:solidFill>
                  <a:srgbClr val="C3CA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100" b="1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 노출 221회 · 20.6위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72200" y="5285232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373368" y="539496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회사 이름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373368" y="565099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0회</a:t>
            </a:r>
            <a:pPr indent="0" marL="0">
              <a:buNone/>
            </a:pPr>
            <a:r>
              <a:rPr lang="en-US" sz="1100" dirty="0">
                <a:solidFill>
                  <a:srgbClr val="C3CA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100" b="1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3회 · SkillCertify 언급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869680" y="5285232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070848" y="539496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분량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9070848" y="565099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5,188자</a:t>
            </a:r>
            <a:pPr indent="0" marL="0">
              <a:buNone/>
            </a:pPr>
            <a:r>
              <a:rPr lang="en-US" sz="1100" dirty="0">
                <a:solidFill>
                  <a:srgbClr val="C3CA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100" b="1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1,196자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65836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Functionalities &amp; Limitations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2011680"/>
            <a:ext cx="1060704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69848" y="2231136"/>
            <a:ext cx="1371600" cy="347472"/>
          </a:xfrm>
          <a:prstGeom prst="roundRect">
            <a:avLst>
              <a:gd name="adj" fmla="val 15789"/>
            </a:avLst>
          </a:prstGeom>
          <a:solidFill>
            <a:srgbClr val="E8F3E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69848" y="228600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8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구현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2651760" y="2267712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아이디어 · 기획 · 원고 · 성과 취합 · 데이터 축적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77240" y="2971800"/>
            <a:ext cx="1060704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69848" y="3191256"/>
            <a:ext cx="1371600" cy="347472"/>
          </a:xfrm>
          <a:prstGeom prst="roundRect">
            <a:avLst>
              <a:gd name="adj" fmla="val 15789"/>
            </a:avLst>
          </a:prstGeom>
          <a:solidFill>
            <a:srgbClr val="FDF3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69848" y="32461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258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부분 구현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3227832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편집(이미지 제외) · 업로드(외부 채널은 큐까지)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77240" y="3931920"/>
            <a:ext cx="1060704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69848" y="4151376"/>
            <a:ext cx="1371600" cy="347472"/>
          </a:xfrm>
          <a:prstGeom prst="roundRect">
            <a:avLst>
              <a:gd name="adj" fmla="val 15789"/>
            </a:avLst>
          </a:prstGeom>
          <a:solidFill>
            <a:srgbClr val="F0F2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69848" y="42062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설계만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2651760" y="4187952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 확산 — 채널별 포맷 변환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12064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384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링크드인 실제 발행만 못 했습니다. 조직 페이지 발행에는 별도 승인이 필요한데, 저희가 받은 실데이터의 출처가 바로 그 API입니다 — 코드프레소는 이미 권한을 갖고 있습니다.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77240" y="26517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감사합니다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5204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7D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여덟 단계를 자동화한 것이 아니라, 판단이 쌓이는 회로를 만들었습니다.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77240" y="4206240"/>
            <a:ext cx="1005840" cy="32004"/>
          </a:xfrm>
          <a:prstGeom prst="rect">
            <a:avLst/>
          </a:prstGeom>
          <a:solidFill>
            <a:srgbClr val="1A61E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440740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도입에 필요한 것 — 문의 폼에 유입 경로 파라미터 한 줄, 승인자 계정 등록, 링크드인 토큰 연결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754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marketingbot.vercel.app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참고 자료 · Q&amp;A용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65836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점수 채택 기준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243584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점수는 저희가 정한 이상적인 글이 아니라, 코드프레소가 실제 발행한 글 46편에서 역산한 기준입니다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965960"/>
            <a:ext cx="106070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15798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문장 평균 길이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957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46.9자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703320" y="215798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어미 전환률 중앙값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23957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10.4%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15798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브랜드 언급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23957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1.09회 / 1,000자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915400" y="215798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수치 인용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23957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1.26회 / 1,000자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3063240"/>
            <a:ext cx="106070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1A61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88720" y="329184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기준을 고칠 때마다 통과해야 하는 관문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70332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384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수정한 채점 기준으로 그 46편을 다시 채점해 중앙값 92점이 유지되어야 채택하고, 그러지 못하면 폐기합니다.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384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실제로 네 차례 폐기하거나 고쳤습니다. 저희 결과에 유리하도록 맞춘 지표가 아니라, 고객사의 글로 검증한 지표입니다.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77240" y="4846320"/>
            <a:ext cx="106070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188720" y="50292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폐기한 지표의 예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5340096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“자사 글은 굵은 글씨를 쓰지 않는다”는 신호로 30점 차이를 만들었지만, 원본을 다시 확인하니 실제로는 1,000자당 9.73회 사용하고 있었습니다. 저희 수집 과정이 만든 착시였고, 그 신호는 폐기했습니다.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참고 자료 · Q&amp;A용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65836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결과를 믿을 수 있는 근거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1560" y="2057400"/>
            <a:ext cx="310896" cy="310896"/>
          </a:xfrm>
          <a:prstGeom prst="ellipse">
            <a:avLst/>
          </a:prstGeom>
          <a:solidFill>
            <a:srgbClr val="E7EEF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093976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490472" y="203911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 게이트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1490472" y="2350008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사람의 결정 없이는 발행되지 않습니다. 반려에는 사유 입력이 필수입니다.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72200" y="178308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46520" y="2057400"/>
            <a:ext cx="310896" cy="310896"/>
          </a:xfrm>
          <a:prstGeom prst="ellipse">
            <a:avLst/>
          </a:prstGeom>
          <a:solidFill>
            <a:srgbClr val="E7EEF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46520" y="2093976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885432" y="203911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판단 로그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6885432" y="2350008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결정이 누가·언제·왜와 함께 남고, 사람의 결정과 시스템의 실행이 구분됩니다.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24612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51560" y="3520440"/>
            <a:ext cx="310896" cy="310896"/>
          </a:xfrm>
          <a:prstGeom prst="ellipse">
            <a:avLst/>
          </a:prstGeom>
          <a:solidFill>
            <a:srgbClr val="E7EEF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51560" y="3557016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490472" y="35021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추적성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1490472" y="3813048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추천 → 콘텐츠 → 발행 → 문의가 하나의 식별자로 이어집니다.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72200" y="324612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46520" y="3520440"/>
            <a:ext cx="310896" cy="310896"/>
          </a:xfrm>
          <a:prstGeom prst="ellipse">
            <a:avLst/>
          </a:prstGeom>
          <a:solidFill>
            <a:srgbClr val="E7EEF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46520" y="3557016"/>
            <a:ext cx="310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6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885432" y="35021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오류 대응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6885432" y="3813048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E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텔레그램 장애 시 대시보드로 처리하고, 생성 실패 시 주제를 되돌리며, 실패도 로그에 남깁니다.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77240" y="4892040"/>
            <a:ext cx="106070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6E9E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43000" y="5102352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384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정직하게 덧붙이면 — 생성물은 아직 블라인드 테스트를 통과하지 못합니다. 지적된 결함(문장마다 흔들리는 어미)을 지표로 만들어 전환률을 78.9%에서 0%로 낮췄습니다. 그래서 승인 게이트가 설계의 중심에 있습니다.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Marketing Pulse — 코드프레소 콘텐츠 운영</dc:title>
  <dc:subject>PptxGenJS Presentation</dc:subject>
  <dc:creator>Marketing Pulse</dc:creator>
  <cp:lastModifiedBy>Marketing Pulse</cp:lastModifiedBy>
  <cp:revision>1</cp:revision>
  <dcterms:created xsi:type="dcterms:W3CDTF">2026-08-29T04:51:49Z</dcterms:created>
  <dcterms:modified xsi:type="dcterms:W3CDTF">2026-08-29T04:51:49Z</dcterms:modified>
</cp:coreProperties>
</file>